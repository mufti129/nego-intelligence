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PT PUSAT GADAI INDONESIA  •  DIVISI BISNIS &amp; EXPANSION  •  LAPORAN RESMI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ANALISIS KOMPREHENSIF PROSES PEMBUKAAN CABANG (UPC) &amp; SISTEM CERDAS SIMULASI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Evaluasi Kinerja 1.039 Cabang (2024–2026), Rekonsiliasi Siklus Waktu, Uji Signifikansi Negosiator, Peta Geospasial 76 Wilayah, Vendor Risk, dan Prototipe REST API Auto-Routing.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1.039 Cabang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Total Evaluasi 2024-2026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93776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50292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Rp 2,13 Miliar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Penghematan Sewa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93776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0292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69,1 Hari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Rata-rata Lead Time E2E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93776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50292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15,60%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Rerata Diskon Sewa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Penyusun: Data Analyst — Divisi Bisnis  |  Status: Dokumen Resmi Eksekutif  |  Tahun Anggaran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PT PUSAT GADAI INDONESIA  |  DIVISI BISNIS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Ringkasan Eksekutif &amp; 4 Pilar Utama Evaluasi Ekspansi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256032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984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1. Siklus Waktu &amp; Lead Time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Harmonisasi Paradoks Waktu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Lead time pasca-approval direksi stabil di 58,6 hari (~58 hari).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Lead time end-to-end (termasuk survei) adalah 69,1 hari.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Tahap berkas sewa terpangkas 66% (dari 32,7 hr ke 11,0 hr di 2026).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Waktu tunggu Grand Opening terpangkas 60% (dari 14,0 hr ke 5,5 hr).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280160"/>
            <a:ext cx="256032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2984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2. Kinerja Tim Negosiasi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Uji Signifikansi Bonita vs Mirza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Total saving 2026: Rp 2,13 Miliar (100% dari Bonita &amp; Mirza).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Bonita: 142 deal, saving Rp 1,40 Miliar (diskon 18,25%, durasi 8,5 hr).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Mirza: 132 deal, saving Rp 728,4 Juta (diskon 14,05%, durasi 15,5 hr).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Spesialisasi: Bonita tiket besar/alot, Mirza ekspansi &amp; volume.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56032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2984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3. Korelasi Durasi &amp; Diskon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The Law of Diminishing Returns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Uji korelasi Pearson r = -0.1040 membuktikan durasi lama TIDAK menambah diskon.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Zona Emas (1–10 hari): 69,1% deal sukses meraih diskon 15–16%.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Zona Bahaya (&gt;14–20 hari): Tingkat gagal diskon melonjak hingga 27,5% (rugi waktu).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1280160"/>
            <a:ext cx="256032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2984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 Geospasial &amp; Risiko Vendor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Segmentasi Pasar &amp; Kasus Bali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8 dari 10 wilayah paling alot berstatus Kabupaten (aset keluarga/warisan).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Sarjono tetap Kontraktor Champion (SLA 89,0%, 73 unit).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Trimo menanggung 92,3% proyek perintis Bali (12 unit); SLA terdistorsi kendala fery &amp; banjar adat.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PT PUSAT GADAI INDONESIA  |  DIVISI BISNIS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Dekomposisi 7 Tahapan Siklus Waktu &amp; Efisiensi Grand Opening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8580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_dekomposisi_siklus_waktu_u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675120" cy="34826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280160"/>
            <a:ext cx="36576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6304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TEMUAN &amp; REKONSILIASI KUNCI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📌 Harmonisasi Lead Time 58,6 vs 69,1 Hari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Lead time operasional pasca-approval direksi stabil di 58,6 hari (~58 hari). Sedangkan total proses end-to-end sejak pengajuan surveyor adalah 69,1 hari (selisih 10,5 hari adalah proses survei &amp; approval awal).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📌 Akselerasi Pengumpulan Berkas (-66%)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Durasi pengumpulan berkas dari tgl negosiasi berakhir hingga ttd sewa terpangkas tajam dari 32,7 hari (2024) menjadi 11,0 hari di 2026.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📌 Efisiensi Grand Opening Terpangkas 60%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Tahap tunggu GO berhasil dipotong dari 14,0 hari (2024) -&gt; 9,3 hari (2025) -&gt; kini hanya 5,5 hari (median 4 hari di 2026).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📌 Penyelarasan Tanggal Kalender Murni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Seluruh metrik waktu tunggu (seperti TTD sewa ke renovasi: 7,1 hari) dihitung murni hari kalender tanpa terpotong jam/detik pencatatan sistem.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PT PUSAT GADAI INDONESIA  |  DIVISI BISNIS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Evaluasi Kinerja Negosiator: The High-Value Specialist vs Speed Specialist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41148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_komparasi_saving_bonita_mirza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3931920" cy="204459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389120"/>
            <a:ext cx="4114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_komparasi_diskon_dan_durasi_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34840"/>
            <a:ext cx="3931920" cy="151227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120640" y="1280160"/>
            <a:ext cx="6309360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41732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KOMPARASI PERFORMA &amp; UJI SIGNIFIKANSI STATISTIK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🔹 Bonita — The High-Value Negotiator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Menghasilkan penghematan Rp 1,40 Miliar (65,8% total saving nasional).</a:t>
            </a:r>
            <a:br/>
            <a:r>
              <a:t>• Rata-rata diskon 18,25% (median 18,7%) dengan tingkat sukses diskon 95,8% (142 deal).</a:t>
            </a:r>
            <a:br/>
            <a:r>
              <a:t>• Spesialisasi: Menangani ruko komersial bernilai sewa tinggi (&gt;Rp 50 Jt) &amp; negosiasi alot.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🔹 Mirza — The Speed &amp; Volume Specialist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Menghasilkan penghematan Rp 728,4 Juta (34,2% total saving nasional).</a:t>
            </a:r>
            <a:br/>
            <a:r>
              <a:t>• Rata-rata diskon 14,05% (median 13,3%) dengan durasi rata-rata 15,5 hari (132 deal, puncak 28 deal/bln).</a:t>
            </a:r>
            <a:br/>
            <a:r>
              <a:t>• Spesialisasi: Volume deal bulanan tinggi &amp; percepatan ekspansi cabang baru.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🔹 Hasil Uji Mann-Whitney U (p = 0.00012)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Uji statistik non-parametrik membuktikan keunggulan diskon Bonita signifikan secara ilmiah (p &lt; 0.001) dan bukan kebetulan acak.</a:t>
            </a:r>
            <a:br/>
            <a:r>
              <a:t>• Rekomendasi: Penugasan berbasis Smart Routing (Bonita untuk tiket &gt;Rp 50 Jt &amp; alot, Mirza untuk speed &amp; volume).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🔹 Catatan Surveyor Lapangan (Dika &amp; Salma)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11 cabang pengajuan surveyor ditutup diskon 0% (Rp 0 saving) karena langsung deal tanpa lewat meja negosiasi resmi.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PT PUSAT GADAI INDONESIA  |  DIVISI BISNIS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Tren Bulanan 2026: Dinamika Volume Deal &amp; Penghematan Sewa (Bonita vs Mirza)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TIM BONITA: 142 Deal | Saving Rp 1,40 M (65,8%) | Diskon 18,25%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81912"/>
          <a:ext cx="5257800" cy="3401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411480"/>
                <a:gridCol w="731520"/>
                <a:gridCol w="731520"/>
                <a:gridCol w="731520"/>
                <a:gridCol w="594360"/>
                <a:gridCol w="594360"/>
                <a:gridCol w="594360"/>
              </a:tblGrid>
              <a:tr h="3401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Asking (Jt)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(Jt)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 (Jt)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Diskon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Sukses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Januari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458,0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347,0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23,3%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1,0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Februari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887,2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712,0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175,2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18,1%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11,8 hr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897,0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700,0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21,3%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15,7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April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1.400,0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1.181,0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219,0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16,7%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11,7 hr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92,3%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1.022,5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808,0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214,5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18,4%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10,6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Juni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1.270,5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1.029,0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241,5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16,4%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5,9 hr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95,7%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Juli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814,8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156,2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3,8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Agustus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495,0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405,5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89,5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2,4 hr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0163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TOTAL '26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7.401,2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5.997,3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1.403,9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18,3%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8,5 hr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95,8%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234440"/>
            <a:ext cx="52578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TIM MIRZA: 132 Deal | Saving Rp 728,4 Jt (34,2%) | Diskon 14,05%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581912"/>
          <a:ext cx="5257800" cy="3401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411480"/>
                <a:gridCol w="731520"/>
                <a:gridCol w="731520"/>
                <a:gridCol w="731520"/>
                <a:gridCol w="594360"/>
                <a:gridCol w="594360"/>
                <a:gridCol w="594360"/>
              </a:tblGrid>
              <a:tr h="3401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Asking (Jt)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(Jt)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 (Jt)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Diskon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Sukses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Januari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18,6%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Februari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534,5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448,7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85,8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17,3%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11,1 hr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475,0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390,0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22,6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93,3%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April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972,0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825,8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146,2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13,8%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17,3 hr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92,9%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835,0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717,0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118,0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15,6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Juni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614,2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543,0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71,2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8,5 hr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84,2%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Juli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828,6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142,4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24,5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89,5%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Agustus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416,0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363,2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52,8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12,5%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6,2 hr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88,9%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0163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TOTAL '26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4.969,7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4.241,3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728,4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14,0%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15,5 hr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93,2%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663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💡 INSIGHT &amp; KOMPARASI STRATEGIS BULANAN 2026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Konsistensi Penghematan Sewa: Bonita membukukan rata-rata saving Rp 175,5 Jt/bln (puncak Juni Rp 241,5 Jt). Mirza membukukan rata-rata saving Rp 91,1 Jt/bln (puncak April Rp 146,2 Jt). Total kedua tim mengamankan Rp 2,13 Miliar.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Akselerasi Kecepatan Closing: Bonita mencatatkan lonjakan efisiensi durasi pada semester II (Juli 3,8 hr, Agustus 2,4 hr). Mirza mempertahankan peran kunci volume tinggi (puncak April 28 deal) untuk mengejar target ekspansi.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Tingkat Keberhasilan Diskon: Bonita membukukan success rate 95,8% (hanya 6 deal tanpa diskon dari 142 deal), Mirza membukukan 93,2% (9 deal tanpa diskon dari 132 deal). Keduanya memiliki kepatuhan sangat tinggi terhadap mandat efisiensi sewa.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PT PUSAT GADAI INDONESIA  |  DIVISI BISNIS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Hukum Penurunan Hasil (Law of Diminishing Returns) pada Durasi Negosiasi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8580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_distribusi_dan_korelasi_durasi_vs_diskon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675120" cy="38289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280160"/>
            <a:ext cx="36576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6304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FAKTA EMPIRIS &amp; ANALISIS BIVARIAT</a:t>
            </a:r>
          </a:p>
          <a:p>
            <a:br/>
            <a:pPr>
              <a:defRPr sz="1100" b="1">
                <a:solidFill>
                  <a:srgbClr val="DC2626"/>
                </a:solidFill>
              </a:defRPr>
            </a:pPr>
            <a:r>
              <a:t>⚠️ Korelasi Pearson r = -0.1040 (p = 0.085)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Hubungan durasi tawar-menawar terhadap diskon bernilai negatif. Menambah waktu negosiasi secara empiris TIDAK meningkatkan diskon sewa (R² hanya 1,1%).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⚠️ Zona Emas Negosiasi (1–10 Hari)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Menyerap 69,1% transaksi (190 deal). Rata-rata diskon mencapai 15%–16% dengan tingkat keberhasilan diskon tertinggi 93%–97%.</a:t>
            </a:r>
          </a:p>
          <a:p>
            <a:br/>
            <a:pPr>
              <a:defRPr sz="1100" b="1">
                <a:solidFill>
                  <a:srgbClr val="DC2626"/>
                </a:solidFill>
              </a:defRPr>
            </a:pPr>
            <a:r>
              <a:t>⚠️ Zona Bahaya (&gt;14–20 Hari)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Tingkat kegagalan meraih diskon (0% saving) melonjak drastis hingga 27,5% pada durasi di atas 20 hari. Biaya tunda (cost of delay) jauh melampaui potensi diskon tambahan.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⚠️ Rekomendasi Kebijakan SLA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Terapkan batas cut-off tegas: Evaluasi eskalasi pada Hari ke-10, dan cut-off maksimal Hari ke-14.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PT PUSAT GADAI INDONESIA  |  DIVISI BISNIS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Indeks Geospasial Kemudahan Negosiasi: Pemetaan 76 Kabupaten/Kota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_peta_geospasial_kemudahan_nego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120640" cy="180539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SEGMENTASI WILAYAH &amp; POLA KULTURAL PROPERTI</a:t>
            </a:r>
          </a:p>
          <a:p>
            <a:br/>
            <a:pPr>
              <a:defRPr sz="1050" b="1">
                <a:solidFill>
                  <a:srgbClr val="2563EB"/>
                </a:solidFill>
              </a:defRPr>
            </a:pPr>
            <a:r>
              <a:t>📍 Zona Hijau Zamrud (Sangat Mudah, Skor &gt;= 70)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Wilayah: Cilacap (92,2), Tasikmalaya (76,7), Serang (75,2), Jakarta Pusat (73,0).</a:t>
            </a:r>
            <a:br/>
            <a:r>
              <a:t>• Karakteristik: Pemilik kooperatif, durasi closing rata-rata 3–6 hari, diskon rata-rata &gt;18%.</a:t>
            </a:r>
          </a:p>
          <a:p>
            <a:br/>
            <a:pPr>
              <a:defRPr sz="1050" b="1">
                <a:solidFill>
                  <a:srgbClr val="2563EB"/>
                </a:solidFill>
              </a:defRPr>
            </a:pPr>
            <a:r>
              <a:t>📍 Zona Merah Tua (Sangat Alot, Skor &lt; 40)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Wilayah: Bandung Barat (19,0), Grobogan (20,0), Cirebon Kota (28,3), Cianjur (28,5).</a:t>
            </a:r>
            <a:br/>
            <a:r>
              <a:t>• Karakteristik: Rata-rata durasi membengkak &gt;20 hari, diskon rendah (&lt; 5%–10%).</a:t>
            </a:r>
          </a:p>
          <a:p>
            <a:br/>
            <a:pPr>
              <a:defRPr sz="1050" b="1">
                <a:solidFill>
                  <a:srgbClr val="2563EB"/>
                </a:solidFill>
              </a:defRPr>
            </a:pPr>
            <a:r>
              <a:t>📍 Temuan Kultural: Dikotomi Kabupaten vs Kota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8 dari 10 wilayah paling alot di Indonesia berstatus KABUPATEN.</a:t>
            </a:r>
            <a:br/>
            <a:r>
              <a:t>• Faktor Penyebab: Ruko di kabupaten didominasi aset warisan keluarga majemuk yang memerlukan konsensus banyak ahli waris.</a:t>
            </a:r>
            <a:br/>
            <a:r>
              <a:t>• Anomali Kota: Kota Cirebon &amp; Surakarta alot karena dihuni saudagar tua dengan modal kas kuat.</a:t>
            </a:r>
          </a:p>
          <a:p>
            <a:br/>
            <a:pPr>
              <a:defRPr sz="1050" b="1">
                <a:solidFill>
                  <a:srgbClr val="2563EB"/>
                </a:solidFill>
              </a:defRPr>
            </a:pPr>
            <a:r>
              <a:t>📍 Penerapan TopoJSON BPS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Seluruh 76 kab/kota aktif 2026 terpetakan 100% tanpa ada daerah yang lolos (zero unmapped).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PT PUSAT GADAI INDONESIA  |  DIVISI BISNIS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Vendor Risk Quadrant: Evaluasi Kontraktor &amp; Analisis Beban Khusus Bali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2179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_peta_risiko_vendor_kuad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035040" cy="342624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280160"/>
            <a:ext cx="42976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173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ANALISIS PERFORMA KONTRAKTOR &amp; BALI</a:t>
            </a:r>
          </a:p>
          <a:p>
            <a:br/>
            <a:pPr>
              <a:defRPr sz="1000" b="1">
                <a:solidFill>
                  <a:srgbClr val="10B981"/>
                </a:solidFill>
              </a:defRPr>
            </a:pPr>
            <a:r>
              <a:t>🔨 Sarjono — Champion Kuadran I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Volume 73 unit, Kepatuhan SLA tertinggi 89,0%, durasi rata-rata tercepat 14,9 hari.</a:t>
            </a:r>
            <a:br/>
            <a:r>
              <a:t>• Mitra paling andal untuk pengerjaan cabang prioritas.</a:t>
            </a:r>
          </a:p>
          <a:p>
            <a:br/>
            <a:pPr>
              <a:defRPr sz="1000" b="1">
                <a:solidFill>
                  <a:srgbClr val="2563EB"/>
                </a:solidFill>
              </a:defRPr>
            </a:pPr>
            <a:r>
              <a:t>🔨 CV Rizki Mitra Abadi — Turnaround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Lonjakan kepatuhan SLA dari 44,6% (2025) ke 66,7% (2026), mendekati Kuadran I.</a:t>
            </a:r>
          </a:p>
          <a:p>
            <a:br/>
            <a:pPr>
              <a:defRPr sz="1000" b="1">
                <a:solidFill>
                  <a:srgbClr val="D97706"/>
                </a:solidFill>
              </a:defRPr>
            </a:pPr>
            <a:r>
              <a:t>🔨 Dekomposisi Realitas Trimo (SLA 15,1%)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Menanggung 92,3% proyek perintis Bali (12 dari 13 cabang) yang dihindari kontraktor lain.</a:t>
            </a:r>
            <a:br/>
            <a:r>
              <a:t>• Proyek Bali: SLA 0% (rata-rata 43,9 hari) akibat antrean fery Ketapang-Gilimanuk &amp; upacara Banjar adat.</a:t>
            </a:r>
            <a:br/>
            <a:r>
              <a:t>• Proyek Reguler Jawa: SLA 19,5% (31,8 hari).</a:t>
            </a:r>
            <a:br/>
            <a:r>
              <a:t>• Evaluasi objektif: Kinerja Trimo terdistorsi beban perintis pulau luar.</a:t>
            </a:r>
          </a:p>
          <a:p>
            <a:br/>
            <a:pPr>
              <a:defRPr sz="1000" b="1">
                <a:solidFill>
                  <a:srgbClr val="2563EB"/>
                </a:solidFill>
              </a:defRPr>
            </a:pPr>
            <a:r>
              <a:t>🔨 Mitra Dihentikan / Underperformer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CV Cahaya Kemakmuran dinonaktifkan (SLA '25 hanya 15,4%).</a:t>
            </a:r>
            <a:br/>
            <a:r>
              <a:t>• Dimas Andri Sulistyo (mitra baru) masuk zona pengawasan ketat (SLA 11,1%).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PT PUSAT GADAI INDONESIA  |  DIVISI BISNIS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Inovasi Sistem Cerdas: Auto-Routing Negosiasi &amp; Dashboard Interaktif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747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4747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Sistem Rekomendasi Auto-Routing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Secara otomatis mencocokkan profil ruko dengan kapabilitas negosiator:</a:t>
            </a:r>
            <a:br/>
            <a:br/>
            <a:r>
              <a:t>• Strict Fair Workload Guardrail: Selisih beban proyek aktif Bonita vs Mirza dibatasi MAKSIMAL 2 PROYEK (mencegah ketimpangan &amp; kecemburuan tim).</a:t>
            </a:r>
            <a:br/>
            <a:r>
              <a:t>• Ruko Tiket Besar (&gt;Rp 50 Jt/thn) -&gt; Dialokasikan ke BONITA (Maksimalisasi Saving Diskon).</a:t>
            </a:r>
            <a:br/>
            <a:r>
              <a:t>• Ruko Cepat / Kebutuhan Akselerasi GO -&gt; Dialokasikan ke MIRZA (Kecepatan Closing).</a:t>
            </a:r>
            <a:br/>
            <a:r>
              <a:t>• Mencegah deal 0% akibat surveyor langsung deal.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4747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3474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Mesin Prediksi Multi-Variabel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Menghitung estimasi realistik sebelum negosiasi dimulai:</a:t>
            </a:r>
            <a:br/>
            <a:br/>
            <a:r>
              <a:t>• Estimasi SLA Durasi Nego (Median historis wilayah).</a:t>
            </a:r>
            <a:br/>
            <a:r>
              <a:t>• Target Diskon Rasional (Batas atas &amp; bawah).</a:t>
            </a:r>
            <a:br/>
            <a:r>
              <a:t>• Indeks Kemudahan Wilayah (Skor 0–100).</a:t>
            </a:r>
            <a:br/>
            <a:r>
              <a:t>• Wilayah Acuan Pembanding Terdekat (Clustering Euclidean Space 3 Dimensi).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280160"/>
            <a:ext cx="34747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280160"/>
            <a:ext cx="3474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REST API &amp; Web Dashboard Siap Pakai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1031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Telah dilengkapi antarmuka modern yang siap diintegrasikan:</a:t>
            </a:r>
            <a:br/>
            <a:br/>
            <a:r>
              <a:t>• Endpoint JSON REST API (/api/routing, /api/predict).</a:t>
            </a:r>
            <a:br/>
            <a:r>
              <a:t>• Dashboard Web Interaktif (HTML5 + Tailwind CSS).</a:t>
            </a:r>
            <a:br/>
            <a:r>
              <a:t>• Cloudflare Global Tunnel (Akses aman dari laptop/HP atasan tanpa login rumit).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PT PUSAT GADAI INDONESIA  |  DIVISI BISNIS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 Rekomendasi Manajerial Strategis untuk Direksi &amp; Manajemen PGI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18288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53312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Kebijakan Cut-off Negosiasi 14 Hari Kerja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Hentikan tawar-menawar yang melampaui 14 hari kerja. Analisis membuktikan durasi &gt;14 hari menghasilkan kegagalan diskon hingga 27,5% dan menimbulkan biaya sewa terbuang (cost of delay).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67712"/>
            <a:ext cx="182880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40864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Implementasi Sistem Cerdas Auto-Routing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Tugaskan Bonita khusus untuk ruko berharga sewa di atas Rp 50 Juta atau wilayah alot, dan tugaskan Mirza untuk target ekspansi cepat dan ruko komersial standar.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55264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55264"/>
            <a:ext cx="18288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28416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3. Sentralisasi 100% Negosiasi di Tim Resmi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Hentikan penerimaan deal sewa langsung oleh surveyor lapangan (kasus 11 cabang diskon 0% di 2026). Seluruh penawaran wajib melewati verifikasi Tim Negosiasi.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42816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42816"/>
            <a:ext cx="182880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1596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4. Diferensiasi SLA &amp; Insentif Kontraktor Luar Pulau (Kasus Bali)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Berikan SLA realistis (45 hari) untuk ekspansi Pulau Bali dan wilayah kepulauan lainnya, serta evaluasi alokasi beban berimbang agar tidak membebani satu kontraktor tunggal (Trimo).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30368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30368"/>
            <a:ext cx="18288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035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5. Integrasi Dashboard Pemantauan Real-Time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Manfaatkan Web Dashboard &amp; REST API yang telah dibangun sebagai Early Warning System pemantauan harian proses pembukaan cabang.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